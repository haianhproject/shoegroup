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aytone One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Bogart Bold" charset="1" panose="00000800000000000000"/>
      <p:regular r:id="rId21"/>
    </p:embeddedFont>
    <p:embeddedFont>
      <p:font typeface="Poppins" charset="1" panose="00000500000000000000"/>
      <p:regular r:id="rId22"/>
    </p:embeddedFont>
    <p:embeddedFont>
      <p:font typeface="Rundeck Smooth" charset="1" panose="00000000000000000000"/>
      <p:regular r:id="rId23"/>
    </p:embeddedFont>
    <p:embeddedFont>
      <p:font typeface="Asap Bold" charset="1" panose="020F0804030202060203"/>
      <p:regular r:id="rId24"/>
    </p:embeddedFont>
    <p:embeddedFont>
      <p:font typeface="Asap" charset="1" panose="020F0504030202060203"/>
      <p:regular r:id="rId25"/>
    </p:embeddedFont>
    <p:embeddedFont>
      <p:font typeface="Poppins Ultra-Bold" charset="1" panose="00000900000000000000"/>
      <p:regular r:id="rId26"/>
    </p:embeddedFont>
    <p:embeddedFont>
      <p:font typeface="Poppins Ultra-Bold Italics" charset="1" panose="00000900000000000000"/>
      <p:regular r:id="rId27"/>
    </p:embeddedFont>
    <p:embeddedFont>
      <p:font typeface="Poppins Medium" charset="1" panose="000006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png" Type="http://schemas.openxmlformats.org/officeDocument/2006/relationships/image"/><Relationship Id="rId16" Target="../media/image34.png" Type="http://schemas.openxmlformats.org/officeDocument/2006/relationships/image"/><Relationship Id="rId17" Target="../media/image35.jpeg" Type="http://schemas.openxmlformats.org/officeDocument/2006/relationships/image"/><Relationship Id="rId18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21.png" Type="http://schemas.openxmlformats.org/officeDocument/2006/relationships/image"/><Relationship Id="rId14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2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20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57.png" Type="http://schemas.openxmlformats.org/officeDocument/2006/relationships/image"/><Relationship Id="rId17" Target="../media/image58.svg" Type="http://schemas.openxmlformats.org/officeDocument/2006/relationships/image"/><Relationship Id="rId18" Target="https://abc-mart.com.vn/collections/puma?utm_source=google&amp;utm_medium=cpc&amp;utm_campaign=&amp;utm_id=23775490477&amp;utm_adset=&amp;utm_content=806115346052&amp;utm_term=abc+mart&amp;utm_device=c&amp;utm_network=g&amp;utm_placement=&amp;gad_source=1&amp;gad_campaignid=23775490477&amp;gbraid=0AAAABDA3s08w8QYVPz-wejz6sMlNCZDu-&amp;gclid=CjwKCAjwn67VBhBnEiwAXUIN1bdSc2JiR4pnvGUnp3GXddtoZY9AVBRSJIk8PsR2hceASW_APzY2BxoCslQQAvD_BwE" TargetMode="External" Type="http://schemas.openxmlformats.org/officeDocument/2006/relationships/hyperlink"/><Relationship Id="rId19" Target="https://share.google/ZmAzqIJyawTwAbRIZ" TargetMode="External" Type="http://schemas.openxmlformats.org/officeDocument/2006/relationships/hyperlink"/><Relationship Id="rId2" Target="../media/image1.png" Type="http://schemas.openxmlformats.org/officeDocument/2006/relationships/image"/><Relationship Id="rId20" Target="../media/image59.png" Type="http://schemas.openxmlformats.org/officeDocument/2006/relationships/image"/><Relationship Id="rId21" Target="../media/image60.png" Type="http://schemas.openxmlformats.org/officeDocument/2006/relationships/image"/><Relationship Id="rId22" Target="../media/image20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20.pn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png" Type="http://schemas.openxmlformats.org/officeDocument/2006/relationships/image"/><Relationship Id="rId12" Target="../media/image75.png" Type="http://schemas.openxmlformats.org/officeDocument/2006/relationships/image"/><Relationship Id="rId13" Target="../media/image76.png" Type="http://schemas.openxmlformats.org/officeDocument/2006/relationships/image"/><Relationship Id="rId14" Target="../media/image77.png" Type="http://schemas.openxmlformats.org/officeDocument/2006/relationships/image"/><Relationship Id="rId15" Target="../media/image78.png" Type="http://schemas.openxmlformats.org/officeDocument/2006/relationships/image"/><Relationship Id="rId16" Target="../media/image79.png" Type="http://schemas.openxmlformats.org/officeDocument/2006/relationships/image"/><Relationship Id="rId17" Target="../media/image80.png" Type="http://schemas.openxmlformats.org/officeDocument/2006/relationships/image"/><Relationship Id="rId18" Target="../media/image81.png" Type="http://schemas.openxmlformats.org/officeDocument/2006/relationships/image"/><Relationship Id="rId19" Target="../media/image82.png" Type="http://schemas.openxmlformats.org/officeDocument/2006/relationships/image"/><Relationship Id="rId2" Target="../media/image65.png" Type="http://schemas.openxmlformats.org/officeDocument/2006/relationships/image"/><Relationship Id="rId20" Target="../media/image83.png" Type="http://schemas.openxmlformats.org/officeDocument/2006/relationships/image"/><Relationship Id="rId21" Target="../media/image84.png" Type="http://schemas.openxmlformats.org/officeDocument/2006/relationships/image"/><Relationship Id="rId22" Target="../media/image85.png" Type="http://schemas.openxmlformats.org/officeDocument/2006/relationships/image"/><Relationship Id="rId23" Target="../media/image86.png" Type="http://schemas.openxmlformats.org/officeDocument/2006/relationships/image"/><Relationship Id="rId24" Target="../media/image87.png" Type="http://schemas.openxmlformats.org/officeDocument/2006/relationships/image"/><Relationship Id="rId25" Target="../media/image88.png" Type="http://schemas.openxmlformats.org/officeDocument/2006/relationships/image"/><Relationship Id="rId26" Target="../media/image89.png" Type="http://schemas.openxmlformats.org/officeDocument/2006/relationships/image"/><Relationship Id="rId27" Target="../media/image90.png" Type="http://schemas.openxmlformats.org/officeDocument/2006/relationships/image"/><Relationship Id="rId28" Target="../media/image20.png" Type="http://schemas.openxmlformats.org/officeDocument/2006/relationships/image"/><Relationship Id="rId3" Target="../media/image66.png" Type="http://schemas.openxmlformats.org/officeDocument/2006/relationships/image"/><Relationship Id="rId4" Target="../media/image67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Relationship Id="rId7" Target="../media/image70.png" Type="http://schemas.openxmlformats.org/officeDocument/2006/relationships/image"/><Relationship Id="rId8" Target="../media/image71.pn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1.png" Type="http://schemas.openxmlformats.org/officeDocument/2006/relationships/image"/><Relationship Id="rId14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12" Target="../media/image20.png" Type="http://schemas.openxmlformats.org/officeDocument/2006/relationships/image"/><Relationship Id="rId13" Target="../media/image9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4.png" Type="http://schemas.openxmlformats.org/officeDocument/2006/relationships/image"/><Relationship Id="rId3" Target="../media/image95.png" Type="http://schemas.openxmlformats.org/officeDocument/2006/relationships/image"/><Relationship Id="rId4" Target="../media/image96.png" Type="http://schemas.openxmlformats.org/officeDocument/2006/relationships/image"/><Relationship Id="rId5" Target="../media/image97.pn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6479" y="-3810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true" rot="4362010">
            <a:off x="7867991" y="-747943"/>
            <a:ext cx="10327713" cy="13854249"/>
          </a:xfrm>
          <a:custGeom>
            <a:avLst/>
            <a:gdLst/>
            <a:ahLst/>
            <a:cxnLst/>
            <a:rect r="r" b="b" t="t" l="l"/>
            <a:pathLst>
              <a:path h="13854249" w="10327713">
                <a:moveTo>
                  <a:pt x="0" y="13854249"/>
                </a:moveTo>
                <a:lnTo>
                  <a:pt x="10327713" y="13854249"/>
                </a:lnTo>
                <a:lnTo>
                  <a:pt x="10327713" y="0"/>
                </a:lnTo>
                <a:lnTo>
                  <a:pt x="0" y="0"/>
                </a:lnTo>
                <a:lnTo>
                  <a:pt x="0" y="13854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0351677" y="0"/>
            <a:ext cx="6231526" cy="8006390"/>
            <a:chOff x="0" y="0"/>
            <a:chExt cx="660400" cy="8484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400" cy="848495"/>
            </a:xfrm>
            <a:custGeom>
              <a:avLst/>
              <a:gdLst/>
              <a:ahLst/>
              <a:cxnLst/>
              <a:rect r="r" b="b" t="t" l="l"/>
              <a:pathLst>
                <a:path h="848495" w="660400">
                  <a:moveTo>
                    <a:pt x="220252" y="829426"/>
                  </a:moveTo>
                  <a:cubicBezTo>
                    <a:pt x="254109" y="840940"/>
                    <a:pt x="292600" y="848495"/>
                    <a:pt x="330378" y="848495"/>
                  </a:cubicBezTo>
                  <a:cubicBezTo>
                    <a:pt x="368157" y="848495"/>
                    <a:pt x="404509" y="842018"/>
                    <a:pt x="438009" y="830504"/>
                  </a:cubicBezTo>
                  <a:cubicBezTo>
                    <a:pt x="438723" y="830145"/>
                    <a:pt x="439435" y="830145"/>
                    <a:pt x="440148" y="829786"/>
                  </a:cubicBezTo>
                  <a:cubicBezTo>
                    <a:pt x="565955" y="783730"/>
                    <a:pt x="658618" y="662116"/>
                    <a:pt x="660400" y="51920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18815"/>
                  </a:lnTo>
                  <a:cubicBezTo>
                    <a:pt x="1782" y="662835"/>
                    <a:pt x="93019" y="784450"/>
                    <a:pt x="220252" y="829426"/>
                  </a:cubicBezTo>
                  <a:close/>
                </a:path>
              </a:pathLst>
            </a:custGeom>
            <a:blipFill>
              <a:blip r:embed="rId6"/>
              <a:stretch>
                <a:fillRect l="-46361" t="0" r="-46361" b="0"/>
              </a:stretch>
            </a:blipFill>
          </p:spPr>
        </p:sp>
      </p:grpSp>
      <p:sp>
        <p:nvSpPr>
          <p:cNvPr name="AutoShape 21" id="21"/>
          <p:cNvSpPr/>
          <p:nvPr/>
        </p:nvSpPr>
        <p:spPr>
          <a:xfrm>
            <a:off x="1576937" y="6179182"/>
            <a:ext cx="1248155" cy="0"/>
          </a:xfrm>
          <a:prstGeom prst="line">
            <a:avLst/>
          </a:prstGeom>
          <a:ln cap="rnd" w="57150">
            <a:solidFill>
              <a:srgbClr val="1C1C1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7477754" y="9613457"/>
            <a:ext cx="3086100" cy="287448"/>
            <a:chOff x="0" y="0"/>
            <a:chExt cx="812800" cy="7570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75706"/>
            </a:xfrm>
            <a:custGeom>
              <a:avLst/>
              <a:gdLst/>
              <a:ahLst/>
              <a:cxnLst/>
              <a:rect r="r" b="b" t="t" l="l"/>
              <a:pathLst>
                <a:path h="75706" w="812800">
                  <a:moveTo>
                    <a:pt x="406400" y="0"/>
                  </a:moveTo>
                  <a:cubicBezTo>
                    <a:pt x="181951" y="0"/>
                    <a:pt x="0" y="16947"/>
                    <a:pt x="0" y="37853"/>
                  </a:cubicBezTo>
                  <a:cubicBezTo>
                    <a:pt x="0" y="58759"/>
                    <a:pt x="181951" y="75706"/>
                    <a:pt x="406400" y="75706"/>
                  </a:cubicBezTo>
                  <a:cubicBezTo>
                    <a:pt x="630849" y="75706"/>
                    <a:pt x="812800" y="58759"/>
                    <a:pt x="812800" y="37853"/>
                  </a:cubicBezTo>
                  <a:cubicBezTo>
                    <a:pt x="812800" y="16947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BD9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59578"/>
              <a:ext cx="660400" cy="1281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true" flipV="false" rot="0">
            <a:off x="7927996" y="5855318"/>
            <a:ext cx="2185615" cy="3942968"/>
          </a:xfrm>
          <a:custGeom>
            <a:avLst/>
            <a:gdLst/>
            <a:ahLst/>
            <a:cxnLst/>
            <a:rect r="r" b="b" t="t" l="l"/>
            <a:pathLst>
              <a:path h="3942968" w="2185615">
                <a:moveTo>
                  <a:pt x="2185615" y="0"/>
                </a:moveTo>
                <a:lnTo>
                  <a:pt x="0" y="0"/>
                </a:lnTo>
                <a:lnTo>
                  <a:pt x="0" y="3942967"/>
                </a:lnTo>
                <a:lnTo>
                  <a:pt x="2185615" y="3942967"/>
                </a:lnTo>
                <a:lnTo>
                  <a:pt x="218561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384523" y="8407075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8"/>
                </a:lnTo>
                <a:lnTo>
                  <a:pt x="0" y="29169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98552" y="9301989"/>
            <a:ext cx="1197833" cy="1197833"/>
          </a:xfrm>
          <a:custGeom>
            <a:avLst/>
            <a:gdLst/>
            <a:ahLst/>
            <a:cxnLst/>
            <a:rect r="r" b="b" t="t" l="l"/>
            <a:pathLst>
              <a:path h="1197833" w="1197833">
                <a:moveTo>
                  <a:pt x="0" y="0"/>
                </a:moveTo>
                <a:lnTo>
                  <a:pt x="1197832" y="0"/>
                </a:lnTo>
                <a:lnTo>
                  <a:pt x="1197832" y="1197833"/>
                </a:lnTo>
                <a:lnTo>
                  <a:pt x="0" y="119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5388476" y="9436896"/>
            <a:ext cx="523240" cy="523240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-1918475" y="-1528941"/>
            <a:ext cx="8288237" cy="7052536"/>
          </a:xfrm>
          <a:custGeom>
            <a:avLst/>
            <a:gdLst/>
            <a:ahLst/>
            <a:cxnLst/>
            <a:rect r="r" b="b" t="t" l="l"/>
            <a:pathLst>
              <a:path h="7052536" w="8288237">
                <a:moveTo>
                  <a:pt x="0" y="0"/>
                </a:moveTo>
                <a:lnTo>
                  <a:pt x="8288237" y="0"/>
                </a:lnTo>
                <a:lnTo>
                  <a:pt x="8288237" y="7052536"/>
                </a:lnTo>
                <a:lnTo>
                  <a:pt x="0" y="7052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882508" y="-593564"/>
            <a:ext cx="1029208" cy="4114800"/>
          </a:xfrm>
          <a:custGeom>
            <a:avLst/>
            <a:gdLst/>
            <a:ahLst/>
            <a:cxnLst/>
            <a:rect r="r" b="b" t="t" l="l"/>
            <a:pathLst>
              <a:path h="4114800" w="1029208">
                <a:moveTo>
                  <a:pt x="0" y="0"/>
                </a:moveTo>
                <a:lnTo>
                  <a:pt x="1029208" y="0"/>
                </a:lnTo>
                <a:lnTo>
                  <a:pt x="10292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684254" y="-441164"/>
            <a:ext cx="609924" cy="2438491"/>
          </a:xfrm>
          <a:custGeom>
            <a:avLst/>
            <a:gdLst/>
            <a:ahLst/>
            <a:cxnLst/>
            <a:rect r="r" b="b" t="t" l="l"/>
            <a:pathLst>
              <a:path h="2438491" w="609924">
                <a:moveTo>
                  <a:pt x="0" y="0"/>
                </a:moveTo>
                <a:lnTo>
                  <a:pt x="609924" y="0"/>
                </a:lnTo>
                <a:lnTo>
                  <a:pt x="609924" y="2438491"/>
                </a:lnTo>
                <a:lnTo>
                  <a:pt x="0" y="243849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939882" y="-1339627"/>
            <a:ext cx="2916967" cy="2916967"/>
          </a:xfrm>
          <a:custGeom>
            <a:avLst/>
            <a:gdLst/>
            <a:ahLst/>
            <a:cxnLst/>
            <a:rect r="r" b="b" t="t" l="l"/>
            <a:pathLst>
              <a:path h="2916967" w="2916967">
                <a:moveTo>
                  <a:pt x="0" y="0"/>
                </a:moveTo>
                <a:lnTo>
                  <a:pt x="2916967" y="0"/>
                </a:lnTo>
                <a:lnTo>
                  <a:pt x="2916967" y="2916967"/>
                </a:lnTo>
                <a:lnTo>
                  <a:pt x="0" y="29169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498552" y="2921126"/>
            <a:ext cx="523240" cy="523240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C3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922088" y="364061"/>
            <a:ext cx="828040" cy="82804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42875" cap="sq">
              <a:solidFill>
                <a:srgbClr val="3D4B7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658658" y="4131310"/>
            <a:ext cx="7485342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DỰ ÁN TỐT</a:t>
            </a:r>
            <a:r>
              <a:rPr lang="en-US" sz="59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 NGHIỆP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8658" y="5347970"/>
            <a:ext cx="65807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WEBSITE</a:t>
            </a:r>
            <a:r>
              <a:rPr lang="en-US" sz="2400">
                <a:solidFill>
                  <a:srgbClr val="1C1C1C"/>
                </a:solidFill>
                <a:latin typeface="Paytone One"/>
                <a:ea typeface="Paytone One"/>
                <a:cs typeface="Paytone One"/>
                <a:sym typeface="Paytone One"/>
              </a:rPr>
              <a:t> BÁN GIÀY THỂ THAO SHOEGROUP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76937" y="6537954"/>
            <a:ext cx="6112993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NHÓM SD-64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GVHD: Nguyễn Quy Tôn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CHUYÊN NGÀNH: PHÁT TRIỂN PHẦN MỀM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48023" y="4361220"/>
            <a:ext cx="810635" cy="710411"/>
          </a:xfrm>
          <a:custGeom>
            <a:avLst/>
            <a:gdLst/>
            <a:ahLst/>
            <a:cxnLst/>
            <a:rect r="r" b="b" t="t" l="l"/>
            <a:pathLst>
              <a:path h="710411" w="810635">
                <a:moveTo>
                  <a:pt x="0" y="0"/>
                </a:moveTo>
                <a:lnTo>
                  <a:pt x="810635" y="0"/>
                </a:lnTo>
                <a:lnTo>
                  <a:pt x="810635" y="710411"/>
                </a:lnTo>
                <a:lnTo>
                  <a:pt x="0" y="71041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6113842">
            <a:off x="8166903" y="3094719"/>
            <a:ext cx="1495301" cy="2064939"/>
          </a:xfrm>
          <a:custGeom>
            <a:avLst/>
            <a:gdLst/>
            <a:ahLst/>
            <a:cxnLst/>
            <a:rect r="r" b="b" t="t" l="l"/>
            <a:pathLst>
              <a:path h="2064939" w="1495301">
                <a:moveTo>
                  <a:pt x="0" y="0"/>
                </a:moveTo>
                <a:lnTo>
                  <a:pt x="1495301" y="0"/>
                </a:lnTo>
                <a:lnTo>
                  <a:pt x="1495301" y="2064939"/>
                </a:lnTo>
                <a:lnTo>
                  <a:pt x="0" y="206493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93059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234944" y="7132545"/>
            <a:ext cx="7273544" cy="5673364"/>
          </a:xfrm>
          <a:custGeom>
            <a:avLst/>
            <a:gdLst/>
            <a:ahLst/>
            <a:cxnLst/>
            <a:rect r="r" b="b" t="t" l="l"/>
            <a:pathLst>
              <a:path h="5673364" w="7273544">
                <a:moveTo>
                  <a:pt x="0" y="0"/>
                </a:moveTo>
                <a:lnTo>
                  <a:pt x="7273544" y="0"/>
                </a:lnTo>
                <a:lnTo>
                  <a:pt x="7273544" y="5673365"/>
                </a:lnTo>
                <a:lnTo>
                  <a:pt x="0" y="5673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549158" y="-1541353"/>
            <a:ext cx="4052975" cy="4114800"/>
          </a:xfrm>
          <a:custGeom>
            <a:avLst/>
            <a:gdLst/>
            <a:ahLst/>
            <a:cxnLst/>
            <a:rect r="r" b="b" t="t" l="l"/>
            <a:pathLst>
              <a:path h="4114800" w="4052975">
                <a:moveTo>
                  <a:pt x="0" y="0"/>
                </a:moveTo>
                <a:lnTo>
                  <a:pt x="4052975" y="0"/>
                </a:lnTo>
                <a:lnTo>
                  <a:pt x="40529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029881" y="2573447"/>
            <a:ext cx="642168" cy="430837"/>
          </a:xfrm>
          <a:custGeom>
            <a:avLst/>
            <a:gdLst/>
            <a:ahLst/>
            <a:cxnLst/>
            <a:rect r="r" b="b" t="t" l="l"/>
            <a:pathLst>
              <a:path h="430837" w="642168">
                <a:moveTo>
                  <a:pt x="0" y="0"/>
                </a:moveTo>
                <a:lnTo>
                  <a:pt x="642169" y="0"/>
                </a:lnTo>
                <a:lnTo>
                  <a:pt x="642169" y="430836"/>
                </a:lnTo>
                <a:lnTo>
                  <a:pt x="0" y="430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945966">
            <a:off x="17458394" y="3488361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4"/>
                </a:lnTo>
                <a:lnTo>
                  <a:pt x="0" y="969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038897" y="949424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79"/>
                </a:lnTo>
                <a:lnTo>
                  <a:pt x="0" y="4749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527579" y="3431326"/>
            <a:ext cx="3127738" cy="3127738"/>
            <a:chOff x="0" y="0"/>
            <a:chExt cx="14840029" cy="148400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4"/>
              <a:stretch>
                <a:fillRect l="223" t="-3175" r="223" b="-30274"/>
              </a:stretch>
            </a:blip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5562614" y="3431326"/>
            <a:ext cx="3127738" cy="3127738"/>
            <a:chOff x="0" y="0"/>
            <a:chExt cx="14840029" cy="148400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5"/>
              <a:stretch>
                <a:fillRect l="223" t="-4789" r="223" b="-28704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9597648" y="3431326"/>
            <a:ext cx="3127738" cy="3127738"/>
            <a:chOff x="0" y="0"/>
            <a:chExt cx="14840029" cy="148400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6"/>
              <a:stretch>
                <a:fillRect l="223" t="0" r="223" b="0"/>
              </a:stretch>
            </a:blip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13632683" y="3431326"/>
            <a:ext cx="3127738" cy="3127738"/>
            <a:chOff x="0" y="0"/>
            <a:chExt cx="14840029" cy="1484002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94B14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7"/>
              <a:stretch>
                <a:fillRect l="-88198" t="-4096" r="-88198" b="-4096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519422" y="1805581"/>
            <a:ext cx="11422113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GIỚI THIỆU THÀNH VIÊN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7154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ÙI HẢI ANH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TH05764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52189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Lê Minh Hiếu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TH05305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187223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Đỗ Việt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TH05598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222258" y="6701939"/>
            <a:ext cx="5948588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Đinh Doãn Hưng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TH04523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67819" y="1795343"/>
            <a:ext cx="6655096" cy="7256931"/>
            <a:chOff x="0" y="0"/>
            <a:chExt cx="901327" cy="9828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1327" cy="982836"/>
            </a:xfrm>
            <a:custGeom>
              <a:avLst/>
              <a:gdLst/>
              <a:ahLst/>
              <a:cxnLst/>
              <a:rect r="r" b="b" t="t" l="l"/>
              <a:pathLst>
                <a:path h="982836" w="901327">
                  <a:moveTo>
                    <a:pt x="29083" y="0"/>
                  </a:moveTo>
                  <a:lnTo>
                    <a:pt x="872245" y="0"/>
                  </a:lnTo>
                  <a:cubicBezTo>
                    <a:pt x="888307" y="0"/>
                    <a:pt x="901327" y="13021"/>
                    <a:pt x="901327" y="29083"/>
                  </a:cubicBezTo>
                  <a:lnTo>
                    <a:pt x="901327" y="953754"/>
                  </a:lnTo>
                  <a:cubicBezTo>
                    <a:pt x="901327" y="969816"/>
                    <a:pt x="888307" y="982836"/>
                    <a:pt x="872245" y="982836"/>
                  </a:cubicBezTo>
                  <a:lnTo>
                    <a:pt x="29083" y="982836"/>
                  </a:lnTo>
                  <a:cubicBezTo>
                    <a:pt x="13021" y="982836"/>
                    <a:pt x="0" y="969816"/>
                    <a:pt x="0" y="953754"/>
                  </a:cubicBezTo>
                  <a:lnTo>
                    <a:pt x="0" y="29083"/>
                  </a:lnTo>
                  <a:cubicBezTo>
                    <a:pt x="0" y="13021"/>
                    <a:pt x="13021" y="0"/>
                    <a:pt x="290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2127" r="0" b="0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Freeform 20" id="20"/>
          <p:cNvSpPr/>
          <p:nvPr/>
        </p:nvSpPr>
        <p:spPr>
          <a:xfrm flipH="true" flipV="false" rot="0">
            <a:off x="12722056" y="0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-7860182">
            <a:off x="-1800159" y="7706379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6345008"/>
                </a:moveTo>
                <a:lnTo>
                  <a:pt x="0" y="6345008"/>
                </a:lnTo>
                <a:lnTo>
                  <a:pt x="0" y="0"/>
                </a:lnTo>
                <a:lnTo>
                  <a:pt x="9275621" y="0"/>
                </a:lnTo>
                <a:lnTo>
                  <a:pt x="9275621" y="6345008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6398702">
            <a:off x="8063745" y="8428657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8" y="0"/>
                </a:moveTo>
                <a:lnTo>
                  <a:pt x="0" y="0"/>
                </a:lnTo>
                <a:lnTo>
                  <a:pt x="0" y="686618"/>
                </a:lnTo>
                <a:lnTo>
                  <a:pt x="421958" y="686618"/>
                </a:lnTo>
                <a:lnTo>
                  <a:pt x="421958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2464212">
            <a:off x="17020870" y="6039831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5770984">
            <a:off x="7745656" y="-3769"/>
            <a:ext cx="1495301" cy="2064939"/>
          </a:xfrm>
          <a:custGeom>
            <a:avLst/>
            <a:gdLst/>
            <a:ahLst/>
            <a:cxnLst/>
            <a:rect r="r" b="b" t="t" l="l"/>
            <a:pathLst>
              <a:path h="2064939" w="1495301">
                <a:moveTo>
                  <a:pt x="0" y="0"/>
                </a:moveTo>
                <a:lnTo>
                  <a:pt x="1495301" y="0"/>
                </a:lnTo>
                <a:lnTo>
                  <a:pt x="1495301" y="2064938"/>
                </a:lnTo>
                <a:lnTo>
                  <a:pt x="0" y="20649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86532" y="1413707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NỘI DUNG CHÍNH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845783" y="2627529"/>
            <a:ext cx="4856937" cy="728279"/>
            <a:chOff x="0" y="0"/>
            <a:chExt cx="1279193" cy="19181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1. GIỚI THIỆU ĐỀ TÀI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5783" y="3904606"/>
            <a:ext cx="4856937" cy="728279"/>
            <a:chOff x="0" y="0"/>
            <a:chExt cx="1279193" cy="1918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2. VẤN ĐỀ GẶP PHẢI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45783" y="5185335"/>
            <a:ext cx="4856937" cy="724695"/>
            <a:chOff x="0" y="0"/>
            <a:chExt cx="1279193" cy="1908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9193" cy="190866"/>
            </a:xfrm>
            <a:custGeom>
              <a:avLst/>
              <a:gdLst/>
              <a:ahLst/>
              <a:cxnLst/>
              <a:rect r="r" b="b" t="t" l="l"/>
              <a:pathLst>
                <a:path h="190866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09573"/>
                  </a:lnTo>
                  <a:cubicBezTo>
                    <a:pt x="1279193" y="154470"/>
                    <a:pt x="1242797" y="190866"/>
                    <a:pt x="1197900" y="190866"/>
                  </a:cubicBezTo>
                  <a:lnTo>
                    <a:pt x="81294" y="190866"/>
                  </a:lnTo>
                  <a:cubicBezTo>
                    <a:pt x="36396" y="190866"/>
                    <a:pt x="0" y="154470"/>
                    <a:pt x="0" y="109573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1279193" cy="2575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3. GIẢI PHÁP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45783" y="6462480"/>
            <a:ext cx="4856937" cy="728279"/>
            <a:chOff x="0" y="0"/>
            <a:chExt cx="1279193" cy="1918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4. PHẠM VI ĐỀ TÀI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45783" y="7743210"/>
            <a:ext cx="4856937" cy="728279"/>
            <a:chOff x="0" y="0"/>
            <a:chExt cx="1279193" cy="1918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9193" cy="191810"/>
            </a:xfrm>
            <a:custGeom>
              <a:avLst/>
              <a:gdLst/>
              <a:ahLst/>
              <a:cxnLst/>
              <a:rect r="r" b="b" t="t" l="l"/>
              <a:pathLst>
                <a:path h="191810" w="1279193">
                  <a:moveTo>
                    <a:pt x="81294" y="0"/>
                  </a:moveTo>
                  <a:lnTo>
                    <a:pt x="1197900" y="0"/>
                  </a:lnTo>
                  <a:cubicBezTo>
                    <a:pt x="1242797" y="0"/>
                    <a:pt x="1279193" y="36396"/>
                    <a:pt x="1279193" y="81294"/>
                  </a:cubicBezTo>
                  <a:lnTo>
                    <a:pt x="1279193" y="110517"/>
                  </a:lnTo>
                  <a:cubicBezTo>
                    <a:pt x="1279193" y="155414"/>
                    <a:pt x="1242797" y="191810"/>
                    <a:pt x="1197900" y="191810"/>
                  </a:cubicBezTo>
                  <a:lnTo>
                    <a:pt x="81294" y="191810"/>
                  </a:lnTo>
                  <a:cubicBezTo>
                    <a:pt x="36396" y="191810"/>
                    <a:pt x="0" y="155414"/>
                    <a:pt x="0" y="110517"/>
                  </a:cubicBezTo>
                  <a:lnTo>
                    <a:pt x="0" y="81294"/>
                  </a:lnTo>
                  <a:cubicBezTo>
                    <a:pt x="0" y="36396"/>
                    <a:pt x="36396" y="0"/>
                    <a:pt x="81294" y="0"/>
                  </a:cubicBezTo>
                  <a:close/>
                </a:path>
              </a:pathLst>
            </a:custGeom>
            <a:solidFill>
              <a:srgbClr val="DEE7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279193" cy="258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b="true">
                  <a:solidFill>
                    <a:srgbClr val="0B0A0A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  5. SƠ ĐỒ CHỨC NĂNG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10099705" y="377722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6"/>
                </a:lnTo>
                <a:lnTo>
                  <a:pt x="1616423" y="1301956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H="true" flipV="true">
            <a:off x="6712756" y="4935632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2301550" y="4935632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23859" y="3829046"/>
            <a:ext cx="3904226" cy="3249459"/>
            <a:chOff x="0" y="0"/>
            <a:chExt cx="97658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3"/>
              <a:stretch>
                <a:fillRect l="-21980" t="-977" r="0" b="-97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611131" y="3829046"/>
            <a:ext cx="3904226" cy="3249459"/>
            <a:chOff x="0" y="0"/>
            <a:chExt cx="97658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4"/>
              <a:stretch>
                <a:fillRect l="-11859" t="0" r="-1185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968733" y="3829046"/>
            <a:ext cx="3904226" cy="3249459"/>
            <a:chOff x="0" y="0"/>
            <a:chExt cx="97658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6580" cy="812800"/>
            </a:xfrm>
            <a:custGeom>
              <a:avLst/>
              <a:gdLst/>
              <a:ahLst/>
              <a:cxnLst/>
              <a:rect r="r" b="b" t="t" l="l"/>
              <a:pathLst>
                <a:path h="812800" w="976580">
                  <a:moveTo>
                    <a:pt x="45608" y="0"/>
                  </a:moveTo>
                  <a:lnTo>
                    <a:pt x="930971" y="0"/>
                  </a:lnTo>
                  <a:cubicBezTo>
                    <a:pt x="956160" y="0"/>
                    <a:pt x="976580" y="20419"/>
                    <a:pt x="976580" y="45608"/>
                  </a:cubicBezTo>
                  <a:lnTo>
                    <a:pt x="976580" y="767192"/>
                  </a:lnTo>
                  <a:cubicBezTo>
                    <a:pt x="976580" y="792381"/>
                    <a:pt x="956160" y="812800"/>
                    <a:pt x="930971" y="812800"/>
                  </a:cubicBezTo>
                  <a:lnTo>
                    <a:pt x="45608" y="812800"/>
                  </a:lnTo>
                  <a:cubicBezTo>
                    <a:pt x="20419" y="812800"/>
                    <a:pt x="0" y="792381"/>
                    <a:pt x="0" y="767192"/>
                  </a:cubicBezTo>
                  <a:lnTo>
                    <a:pt x="0" y="45608"/>
                  </a:lnTo>
                  <a:cubicBezTo>
                    <a:pt x="0" y="20419"/>
                    <a:pt x="20419" y="0"/>
                    <a:pt x="45608" y="0"/>
                  </a:cubicBezTo>
                  <a:close/>
                </a:path>
              </a:pathLst>
            </a:custGeom>
            <a:blipFill>
              <a:blip r:embed="rId15"/>
              <a:stretch>
                <a:fillRect l="-8130" t="0" r="-813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14965" y="1604075"/>
            <a:ext cx="901676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LÝ DO CHỌN ĐỀ TÀI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786" y="3273287"/>
            <a:ext cx="3782372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NHU CẦU MUA GIÀY TRỰC TUYẾN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95527" y="3273287"/>
            <a:ext cx="3919554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ỨNG DỤNG CÔNG NGHỆ HIỆN ĐẠI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7273" y="3273287"/>
            <a:ext cx="3919554" cy="379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b="true" sz="1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PHÁT TRIỂN KỸ NĂNG THỰC TẾ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84786" y="7159411"/>
            <a:ext cx="3782372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KHÁCH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NGÀY CÀNG CÓ XU HƯỚNG TÌM KIẾM VÀ MUA GIÀY QUA WEBSITE.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11131" y="7159411"/>
            <a:ext cx="3775375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XÂY DỰNG WEBSITE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BÁN GIÀY SHOEGROUP GIÚP MUA SẮM NHANH CHÓNG, TIỆN LỢI VÀ HIỆU QUẢ.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55277" y="7159411"/>
            <a:ext cx="385658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RÈN LUYỆN KỸ NĂNG LẬP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TRÌNH, QUẢN LÝ DỮ LIỆU VÀ XÂY DỰNG HỆ THỐNG THƯƠNG MẠI ĐIỆN TỬ.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10099705" y="377722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6"/>
                </a:lnTo>
                <a:lnTo>
                  <a:pt x="1616423" y="1301956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AutoShape 23" id="23"/>
          <p:cNvSpPr/>
          <p:nvPr/>
        </p:nvSpPr>
        <p:spPr>
          <a:xfrm flipH="true" flipV="true">
            <a:off x="6644833" y="4586540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2233626" y="4586540"/>
            <a:ext cx="0" cy="3879067"/>
          </a:xfrm>
          <a:prstGeom prst="line">
            <a:avLst/>
          </a:prstGeom>
          <a:ln cap="flat" w="9525">
            <a:solidFill>
              <a:srgbClr val="19191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754030" y="3595579"/>
            <a:ext cx="4908036" cy="3249459"/>
            <a:chOff x="0" y="0"/>
            <a:chExt cx="1227667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3"/>
              <a:stretch>
                <a:fillRect l="-14844" t="-2898" r="0" b="-2898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71501" y="3595579"/>
            <a:ext cx="4908036" cy="3249459"/>
            <a:chOff x="0" y="0"/>
            <a:chExt cx="1227667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1778" r="0" b="-1778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90814" y="3595579"/>
            <a:ext cx="4908036" cy="3249459"/>
            <a:chOff x="0" y="0"/>
            <a:chExt cx="1227667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27667" cy="812800"/>
            </a:xfrm>
            <a:custGeom>
              <a:avLst/>
              <a:gdLst/>
              <a:ahLst/>
              <a:cxnLst/>
              <a:rect r="r" b="b" t="t" l="l"/>
              <a:pathLst>
                <a:path h="812800" w="1227667">
                  <a:moveTo>
                    <a:pt x="36280" y="0"/>
                  </a:moveTo>
                  <a:lnTo>
                    <a:pt x="1191386" y="0"/>
                  </a:lnTo>
                  <a:cubicBezTo>
                    <a:pt x="1211423" y="0"/>
                    <a:pt x="1227667" y="16243"/>
                    <a:pt x="1227667" y="36280"/>
                  </a:cubicBezTo>
                  <a:lnTo>
                    <a:pt x="1227667" y="776520"/>
                  </a:lnTo>
                  <a:cubicBezTo>
                    <a:pt x="1227667" y="796557"/>
                    <a:pt x="1211423" y="812800"/>
                    <a:pt x="1191386" y="812800"/>
                  </a:cubicBezTo>
                  <a:lnTo>
                    <a:pt x="36280" y="812800"/>
                  </a:lnTo>
                  <a:cubicBezTo>
                    <a:pt x="16243" y="812800"/>
                    <a:pt x="0" y="796557"/>
                    <a:pt x="0" y="776520"/>
                  </a:cubicBezTo>
                  <a:lnTo>
                    <a:pt x="0" y="36280"/>
                  </a:lnTo>
                  <a:cubicBezTo>
                    <a:pt x="0" y="16243"/>
                    <a:pt x="16243" y="0"/>
                    <a:pt x="36280" y="0"/>
                  </a:cubicBezTo>
                  <a:close/>
                </a:path>
              </a:pathLst>
            </a:custGeom>
            <a:blipFill>
              <a:blip r:embed="rId15"/>
              <a:stretch>
                <a:fillRect l="0" t="-688" r="0" b="-688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514965" y="1604075"/>
            <a:ext cx="901676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MỤC TIÊU ĐỀ TÀI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6862" y="3212321"/>
            <a:ext cx="3782372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HỖ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trợ quản lý toàn diện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76345" y="3183530"/>
            <a:ext cx="4509101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THÚC ĐẨY KINH DOA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nh và phát triển bền vững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16542" y="3212321"/>
            <a:ext cx="385658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NÂNG CAO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trải nghiệm mua sắm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6862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QUẢN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lý sản phẩm, đơn hàng và khách hàng hiệu quả.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339293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TỐI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ưu quy trình bán hàng, nâng cao hiệu quả kinh doanh.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153646" y="7055393"/>
            <a:ext cx="3782372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MANG</a:t>
            </a:r>
            <a:r>
              <a:rPr lang="en-US" b="true" sz="1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đến trải nghiệm mua giày trực tuyến nhanh chóng, tiện lợi.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5800497" y="463609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290309" y="7158924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3" y="0"/>
                </a:lnTo>
                <a:lnTo>
                  <a:pt x="558203" y="474979"/>
                </a:lnTo>
                <a:lnTo>
                  <a:pt x="0" y="474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6398702">
            <a:off x="1207078" y="5014064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8" y="0"/>
                </a:moveTo>
                <a:lnTo>
                  <a:pt x="0" y="0"/>
                </a:lnTo>
                <a:lnTo>
                  <a:pt x="0" y="686619"/>
                </a:lnTo>
                <a:lnTo>
                  <a:pt x="421958" y="686619"/>
                </a:lnTo>
                <a:lnTo>
                  <a:pt x="42195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076852" y="2830974"/>
            <a:ext cx="2432132" cy="7600413"/>
          </a:xfrm>
          <a:custGeom>
            <a:avLst/>
            <a:gdLst/>
            <a:ahLst/>
            <a:cxnLst/>
            <a:rect r="r" b="b" t="t" l="l"/>
            <a:pathLst>
              <a:path h="7600413" w="2432132">
                <a:moveTo>
                  <a:pt x="0" y="0"/>
                </a:moveTo>
                <a:lnTo>
                  <a:pt x="2432132" y="0"/>
                </a:lnTo>
                <a:lnTo>
                  <a:pt x="2432132" y="7600413"/>
                </a:lnTo>
                <a:lnTo>
                  <a:pt x="0" y="7600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14965" y="1604075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KHẢO SÁT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0827" y="3120847"/>
            <a:ext cx="594858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OFFLINE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59694" y="3120847"/>
            <a:ext cx="5948588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ONLINE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59694" y="7160194"/>
            <a:ext cx="59485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8" tooltip="https://abc-mart.com.vn/collections/puma?utm_source=google&amp;utm_medium=cpc&amp;utm_campaign=&amp;utm_id=23775490477&amp;utm_adset=&amp;utm_content=806115346052&amp;utm_term=abc+mart&amp;utm_device=c&amp;utm_network=g&amp;utm_placement=&amp;gad_source=1&amp;gad_campaignid=23775490477&amp;gbraid=0AAAABDA3s08w8QYVPz-wejz6sMlNCZDu-&amp;gclid=CjwKCAjwn67VBhBnEiwAXUIN1bdSc2JiR4pnvGUnp3GXddtoZY9AVBRSJIk8PsR2hceASW_APzY2BxoCslQQAvD_BwE"/>
              </a:rPr>
              <a:t>Trang chủ website abc-mart.com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06322" y="7160194"/>
            <a:ext cx="5948588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19" tooltip="https://share.google/ZmAzqIJyawTwAbRIZ"/>
              </a:rPr>
              <a:t>Decathlon Vincom Times City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73600" y="3784747"/>
            <a:ext cx="6614031" cy="3252566"/>
            <a:chOff x="0" y="0"/>
            <a:chExt cx="1004918" cy="4941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0"/>
              <a:stretch>
                <a:fillRect l="0" t="-14010" r="0" b="-13211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326972" y="3731090"/>
            <a:ext cx="6614031" cy="3252566"/>
            <a:chOff x="0" y="0"/>
            <a:chExt cx="1004918" cy="4941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1"/>
              <a:stretch>
                <a:fillRect l="-3770" t="0" r="-377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-5507698">
            <a:off x="9165505" y="1511200"/>
            <a:ext cx="11510683" cy="12245407"/>
          </a:xfrm>
          <a:custGeom>
            <a:avLst/>
            <a:gdLst/>
            <a:ahLst/>
            <a:cxnLst/>
            <a:rect r="r" b="b" t="t" l="l"/>
            <a:pathLst>
              <a:path h="12245407" w="11510683">
                <a:moveTo>
                  <a:pt x="0" y="0"/>
                </a:moveTo>
                <a:lnTo>
                  <a:pt x="11510683" y="0"/>
                </a:lnTo>
                <a:lnTo>
                  <a:pt x="11510683" y="12245407"/>
                </a:lnTo>
                <a:lnTo>
                  <a:pt x="0" y="1224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096893">
            <a:off x="9456328" y="463087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945966">
            <a:off x="12798248" y="12409"/>
            <a:ext cx="359565" cy="969414"/>
          </a:xfrm>
          <a:custGeom>
            <a:avLst/>
            <a:gdLst/>
            <a:ahLst/>
            <a:cxnLst/>
            <a:rect r="r" b="b" t="t" l="l"/>
            <a:pathLst>
              <a:path h="969414" w="359565">
                <a:moveTo>
                  <a:pt x="0" y="0"/>
                </a:moveTo>
                <a:lnTo>
                  <a:pt x="359564" y="0"/>
                </a:lnTo>
                <a:lnTo>
                  <a:pt x="359564" y="969415"/>
                </a:lnTo>
                <a:lnTo>
                  <a:pt x="0" y="9694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3726969">
            <a:off x="-5687995" y="1675815"/>
            <a:ext cx="9275621" cy="6345009"/>
          </a:xfrm>
          <a:custGeom>
            <a:avLst/>
            <a:gdLst/>
            <a:ahLst/>
            <a:cxnLst/>
            <a:rect r="r" b="b" t="t" l="l"/>
            <a:pathLst>
              <a:path h="6345009" w="9275621">
                <a:moveTo>
                  <a:pt x="9275621" y="0"/>
                </a:moveTo>
                <a:lnTo>
                  <a:pt x="0" y="0"/>
                </a:lnTo>
                <a:lnTo>
                  <a:pt x="0" y="6345009"/>
                </a:lnTo>
                <a:lnTo>
                  <a:pt x="9275621" y="6345009"/>
                </a:lnTo>
                <a:lnTo>
                  <a:pt x="92756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6398702">
            <a:off x="701894" y="5014064"/>
            <a:ext cx="421958" cy="686618"/>
          </a:xfrm>
          <a:custGeom>
            <a:avLst/>
            <a:gdLst/>
            <a:ahLst/>
            <a:cxnLst/>
            <a:rect r="r" b="b" t="t" l="l"/>
            <a:pathLst>
              <a:path h="686618" w="421958">
                <a:moveTo>
                  <a:pt x="421959" y="0"/>
                </a:moveTo>
                <a:lnTo>
                  <a:pt x="0" y="0"/>
                </a:lnTo>
                <a:lnTo>
                  <a:pt x="0" y="686619"/>
                </a:lnTo>
                <a:lnTo>
                  <a:pt x="421959" y="686619"/>
                </a:lnTo>
                <a:lnTo>
                  <a:pt x="421959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14965" y="1604075"/>
            <a:ext cx="866759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VẤN ĐỀ GẶP PHẢI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94579" y="323203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94579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32988" y="324839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32988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63620" y="3642241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hách hàng khó tìm kiếm, lựa chọn sản phẩm và đặt mua giày nhanh chóng.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3620" y="3149002"/>
            <a:ext cx="664790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1. KHÓ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KHĂN TRONG MUA SẮM TRỰC TUYẾN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63620" y="5998173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Quy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trình kiểm tra sản phẩm, lập đơn và thanh toán còn mất nhiều thời gian.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3620" y="5504935"/>
            <a:ext cx="735655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2. QUẢN LÝ 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TẠI QUẦY CHƯA HIỆU QUẢ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02029" y="3658599"/>
            <a:ext cx="67667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Khó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theo dõi chính xác số lượng giày theo từng màu sắc, kích cỡ và biến thể.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02029" y="3165361"/>
            <a:ext cx="644277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KHÓ KIỂM SOÁT SẢN PHẨM VÀ TỒN KHO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02029" y="5998173"/>
            <a:ext cx="67667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Thông tin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sản phẩm, khách hàng, đơn hàng và doanh thu chưa được quản lý tập trung.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02029" y="5504935"/>
            <a:ext cx="645475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4. KHÓ THEO DÕI HOẠT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ĐỘNG KINH DOANH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7787" y="3232036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689962">
            <a:off x="5847470" y="390997"/>
            <a:ext cx="1616423" cy="1301955"/>
          </a:xfrm>
          <a:custGeom>
            <a:avLst/>
            <a:gdLst/>
            <a:ahLst/>
            <a:cxnLst/>
            <a:rect r="r" b="b" t="t" l="l"/>
            <a:pathLst>
              <a:path h="1301955" w="1616423">
                <a:moveTo>
                  <a:pt x="1616423" y="0"/>
                </a:moveTo>
                <a:lnTo>
                  <a:pt x="0" y="0"/>
                </a:lnTo>
                <a:lnTo>
                  <a:pt x="0" y="1301955"/>
                </a:lnTo>
                <a:lnTo>
                  <a:pt x="1616423" y="1301955"/>
                </a:lnTo>
                <a:lnTo>
                  <a:pt x="1616423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7787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1" y="0"/>
                </a:lnTo>
                <a:lnTo>
                  <a:pt x="366781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942513" y="3248395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0"/>
                </a:lnTo>
                <a:lnTo>
                  <a:pt x="0" y="3667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942513" y="5587968"/>
            <a:ext cx="366780" cy="366780"/>
          </a:xfrm>
          <a:custGeom>
            <a:avLst/>
            <a:gdLst/>
            <a:ahLst/>
            <a:cxnLst/>
            <a:rect r="r" b="b" t="t" l="l"/>
            <a:pathLst>
              <a:path h="366780" w="366780">
                <a:moveTo>
                  <a:pt x="0" y="0"/>
                </a:moveTo>
                <a:lnTo>
                  <a:pt x="366780" y="0"/>
                </a:lnTo>
                <a:lnTo>
                  <a:pt x="366780" y="366781"/>
                </a:lnTo>
                <a:lnTo>
                  <a:pt x="0" y="3667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66828" y="3642241"/>
            <a:ext cx="648855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Hỗ tr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ợ khách hàng tìm kiếm, lọc, chọn biến thể, đặt hàng và thanh toán thuận tiện trên website.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6828" y="3149002"/>
            <a:ext cx="570949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1. XÂY DỰNG KÊNH 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ONLINE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14965" y="1604075"/>
            <a:ext cx="7925596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GIẢI PHÁP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6828" y="5998173"/>
            <a:ext cx="648855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Ứng dụng POS giúp nhân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viên tạo đơn, kiểm tra tồn kho, thanh toán và xuất hóa đơn nhanh chóng.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666828" y="5504935"/>
            <a:ext cx="687809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2. XÂY DỰNG HỆ THỐNG BÁN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HÀNG TẠI QUẦY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11554" y="3658599"/>
            <a:ext cx="67667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Quản lý tồn kho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theo từng màu, kích cỡ và biến thể, cập nhật số lượng khi phát sinh đơn hàng để hạn chế bán vượt tồn.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511554" y="3165361"/>
            <a:ext cx="526431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ĐỒNG BỘ SẢN PHẨM &amp; TỒN KHO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11554" y="5998173"/>
            <a:ext cx="6766796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Tập trung</a:t>
            </a:r>
            <a:r>
              <a:rPr lang="en-US" sz="200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quản lý tài khoản, khách hàng, đơn hàng, thanh toán và doanh thu, hỗ trợ cửa hàng theo dõi hoạt động kinh doanh.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11554" y="5504935"/>
            <a:ext cx="606192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4. QUẢN LÝ TẬP</a:t>
            </a: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 TRUNG &amp; THỐNG KÊ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572125"/>
            <a:ext cx="7191375" cy="4714875"/>
          </a:xfrm>
          <a:custGeom>
            <a:avLst/>
            <a:gdLst/>
            <a:ahLst/>
            <a:cxnLst/>
            <a:rect r="r" b="b" t="t" l="l"/>
            <a:pathLst>
              <a:path h="4714875" w="7191375">
                <a:moveTo>
                  <a:pt x="0" y="0"/>
                </a:moveTo>
                <a:lnTo>
                  <a:pt x="7191375" y="0"/>
                </a:lnTo>
                <a:lnTo>
                  <a:pt x="71913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39700" y="0"/>
            <a:ext cx="5448300" cy="4076700"/>
          </a:xfrm>
          <a:custGeom>
            <a:avLst/>
            <a:gdLst/>
            <a:ahLst/>
            <a:cxnLst/>
            <a:rect r="r" b="b" t="t" l="l"/>
            <a:pathLst>
              <a:path h="4076700" w="5448300">
                <a:moveTo>
                  <a:pt x="0" y="0"/>
                </a:moveTo>
                <a:lnTo>
                  <a:pt x="5448300" y="0"/>
                </a:lnTo>
                <a:lnTo>
                  <a:pt x="5448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6192" y="1401919"/>
            <a:ext cx="8266176" cy="115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2"/>
              </a:lnSpc>
            </a:pPr>
            <a:r>
              <a:rPr lang="en-US" sz="7122" spc="-213">
                <a:solidFill>
                  <a:srgbClr val="F46E00"/>
                </a:solidFill>
                <a:latin typeface="Rundeck Smooth"/>
                <a:ea typeface="Rundeck Smooth"/>
                <a:cs typeface="Rundeck Smooth"/>
                <a:sym typeface="Rundeck Smooth"/>
              </a:rPr>
              <a:t>PHẠM VI ĐỀ TÀI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144000" y="209550"/>
            <a:ext cx="1743075" cy="1504950"/>
          </a:xfrm>
          <a:custGeom>
            <a:avLst/>
            <a:gdLst/>
            <a:ahLst/>
            <a:cxnLst/>
            <a:rect r="r" b="b" t="t" l="l"/>
            <a:pathLst>
              <a:path h="1504950" w="1743075">
                <a:moveTo>
                  <a:pt x="0" y="0"/>
                </a:moveTo>
                <a:lnTo>
                  <a:pt x="1743075" y="0"/>
                </a:lnTo>
                <a:lnTo>
                  <a:pt x="1743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06775" y="2352675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77550" y="9210675"/>
            <a:ext cx="1104900" cy="647700"/>
          </a:xfrm>
          <a:custGeom>
            <a:avLst/>
            <a:gdLst/>
            <a:ahLst/>
            <a:cxnLst/>
            <a:rect r="r" b="b" t="t" l="l"/>
            <a:pathLst>
              <a:path h="647700" w="1104900">
                <a:moveTo>
                  <a:pt x="0" y="0"/>
                </a:moveTo>
                <a:lnTo>
                  <a:pt x="1104900" y="0"/>
                </a:lnTo>
                <a:lnTo>
                  <a:pt x="11049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5850" y="4067175"/>
            <a:ext cx="3276600" cy="4724400"/>
          </a:xfrm>
          <a:custGeom>
            <a:avLst/>
            <a:gdLst/>
            <a:ahLst/>
            <a:cxnLst/>
            <a:rect r="r" b="b" t="t" l="l"/>
            <a:pathLst>
              <a:path h="4724400" w="3276600">
                <a:moveTo>
                  <a:pt x="0" y="0"/>
                </a:moveTo>
                <a:lnTo>
                  <a:pt x="3276600" y="0"/>
                </a:lnTo>
                <a:lnTo>
                  <a:pt x="32766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4000" y="3000375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2625" y="385762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90775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1056" y="6001131"/>
            <a:ext cx="22311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Bán hàng online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6192" y="6684179"/>
            <a:ext cx="2340864" cy="129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Tím kiếm, lọc sản phẩm;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chọn màu, kích cỡ;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thêm giới hàng và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đặt hàng trực tuyến.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352925" y="4495800"/>
            <a:ext cx="3267075" cy="4724400"/>
          </a:xfrm>
          <a:custGeom>
            <a:avLst/>
            <a:gdLst/>
            <a:ahLst/>
            <a:cxnLst/>
            <a:rect r="r" b="b" t="t" l="l"/>
            <a:pathLst>
              <a:path h="4724400" w="3267075">
                <a:moveTo>
                  <a:pt x="0" y="0"/>
                </a:moveTo>
                <a:lnTo>
                  <a:pt x="3267075" y="0"/>
                </a:lnTo>
                <a:lnTo>
                  <a:pt x="3267075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781550" y="3429000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19700" y="4067175"/>
            <a:ext cx="1533525" cy="1076325"/>
          </a:xfrm>
          <a:custGeom>
            <a:avLst/>
            <a:gdLst/>
            <a:ahLst/>
            <a:cxnLst/>
            <a:rect r="r" b="b" t="t" l="l"/>
            <a:pathLst>
              <a:path h="1076325" w="15335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438775" y="535305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742432" y="5670423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81728" y="6289167"/>
            <a:ext cx="248716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Quán lý sản phẩm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54880" y="6953924"/>
            <a:ext cx="2340864" cy="133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CRUD sản phẩm giày,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danh mục, thương hiệu,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bộ sưu tập, chất liệu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và hình ảnh.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620000" y="4286250"/>
            <a:ext cx="3048000" cy="5143500"/>
          </a:xfrm>
          <a:custGeom>
            <a:avLst/>
            <a:gdLst/>
            <a:ahLst/>
            <a:cxnLst/>
            <a:rect r="r" b="b" t="t" l="l"/>
            <a:pathLst>
              <a:path h="5143500" w="3048000">
                <a:moveTo>
                  <a:pt x="0" y="0"/>
                </a:moveTo>
                <a:lnTo>
                  <a:pt x="3048000" y="0"/>
                </a:lnTo>
                <a:lnTo>
                  <a:pt x="304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829550" y="3209925"/>
            <a:ext cx="2628900" cy="1933575"/>
          </a:xfrm>
          <a:custGeom>
            <a:avLst/>
            <a:gdLst/>
            <a:ahLst/>
            <a:cxnLst/>
            <a:rect r="r" b="b" t="t" l="l"/>
            <a:pathLst>
              <a:path h="1933575" w="2628900">
                <a:moveTo>
                  <a:pt x="0" y="0"/>
                </a:moveTo>
                <a:lnTo>
                  <a:pt x="2628900" y="0"/>
                </a:lnTo>
                <a:lnTo>
                  <a:pt x="26289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267700" y="3857625"/>
            <a:ext cx="1752600" cy="1285875"/>
          </a:xfrm>
          <a:custGeom>
            <a:avLst/>
            <a:gdLst/>
            <a:ahLst/>
            <a:cxnLst/>
            <a:rect r="r" b="b" t="t" l="l"/>
            <a:pathLst>
              <a:path h="1285875" w="1752600">
                <a:moveTo>
                  <a:pt x="0" y="0"/>
                </a:moveTo>
                <a:lnTo>
                  <a:pt x="1752600" y="0"/>
                </a:lnTo>
                <a:lnTo>
                  <a:pt x="1752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05850" y="5353050"/>
            <a:ext cx="876300" cy="647700"/>
          </a:xfrm>
          <a:custGeom>
            <a:avLst/>
            <a:gdLst/>
            <a:ahLst/>
            <a:cxnLst/>
            <a:rect r="r" b="b" t="t" l="l"/>
            <a:pathLst>
              <a:path h="647700" w="8763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8339328" y="6205538"/>
            <a:ext cx="160934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Giỏ hàng &amp;</a:t>
            </a:r>
          </a:p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thanh toán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27264" y="7221386"/>
            <a:ext cx="2633472" cy="133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Quản lý giỏ hàng, voucher;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hỗ trợ COD và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chuyển khoản;</a:t>
            </a:r>
          </a:p>
          <a:p>
            <a:pPr algn="ctr">
              <a:lnSpc>
                <a:spcPts val="2663"/>
              </a:lnSpc>
            </a:pPr>
            <a:r>
              <a:rPr lang="en-US" sz="177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tính phí giao hàng.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668000" y="4495800"/>
            <a:ext cx="3267075" cy="4933950"/>
          </a:xfrm>
          <a:custGeom>
            <a:avLst/>
            <a:gdLst/>
            <a:ahLst/>
            <a:cxnLst/>
            <a:rect r="r" b="b" t="t" l="l"/>
            <a:pathLst>
              <a:path h="4933950" w="3267075">
                <a:moveTo>
                  <a:pt x="0" y="0"/>
                </a:moveTo>
                <a:lnTo>
                  <a:pt x="3267075" y="0"/>
                </a:lnTo>
                <a:lnTo>
                  <a:pt x="32670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096625" y="3429000"/>
            <a:ext cx="2409825" cy="2143125"/>
          </a:xfrm>
          <a:custGeom>
            <a:avLst/>
            <a:gdLst/>
            <a:ahLst/>
            <a:cxnLst/>
            <a:rect r="r" b="b" t="t" l="l"/>
            <a:pathLst>
              <a:path h="2143125" w="2409825">
                <a:moveTo>
                  <a:pt x="0" y="0"/>
                </a:moveTo>
                <a:lnTo>
                  <a:pt x="2409825" y="0"/>
                </a:lnTo>
                <a:lnTo>
                  <a:pt x="24098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753850" y="4067175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972925" y="5353050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484864" y="6318694"/>
            <a:ext cx="1664208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Đơn hàng &amp;</a:t>
            </a:r>
          </a:p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khách hàng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55680" y="7352834"/>
            <a:ext cx="2340864" cy="129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 đối trạng thái đơn,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địa chỉ nhận hàng,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lịch sử mua và thông tin</a:t>
            </a:r>
          </a:p>
          <a:p>
            <a:pPr algn="ctr">
              <a:lnSpc>
                <a:spcPts val="2603"/>
              </a:lnSpc>
            </a:pPr>
            <a:r>
              <a:rPr lang="en-US" sz="173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khách hàng.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3925550" y="4067175"/>
            <a:ext cx="3276600" cy="5153025"/>
          </a:xfrm>
          <a:custGeom>
            <a:avLst/>
            <a:gdLst/>
            <a:ahLst/>
            <a:cxnLst/>
            <a:rect r="r" b="b" t="t" l="l"/>
            <a:pathLst>
              <a:path h="5153025" w="3276600">
                <a:moveTo>
                  <a:pt x="0" y="0"/>
                </a:moveTo>
                <a:lnTo>
                  <a:pt x="3276600" y="0"/>
                </a:lnTo>
                <a:lnTo>
                  <a:pt x="3276600" y="5153025"/>
                </a:lnTo>
                <a:lnTo>
                  <a:pt x="0" y="51530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363700" y="3000375"/>
            <a:ext cx="2400300" cy="2143125"/>
          </a:xfrm>
          <a:custGeom>
            <a:avLst/>
            <a:gdLst/>
            <a:ahLst/>
            <a:cxnLst/>
            <a:rect r="r" b="b" t="t" l="l"/>
            <a:pathLst>
              <a:path h="2143125" w="2400300">
                <a:moveTo>
                  <a:pt x="0" y="0"/>
                </a:moveTo>
                <a:lnTo>
                  <a:pt x="2400300" y="0"/>
                </a:lnTo>
                <a:lnTo>
                  <a:pt x="24003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020925" y="3638550"/>
            <a:ext cx="1314450" cy="1076325"/>
          </a:xfrm>
          <a:custGeom>
            <a:avLst/>
            <a:gdLst/>
            <a:ahLst/>
            <a:cxnLst/>
            <a:rect r="r" b="b" t="t" l="l"/>
            <a:pathLst>
              <a:path h="1076325" w="1314450">
                <a:moveTo>
                  <a:pt x="0" y="0"/>
                </a:moveTo>
                <a:lnTo>
                  <a:pt x="1314450" y="0"/>
                </a:lnTo>
                <a:lnTo>
                  <a:pt x="131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240000" y="51435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429232" y="6021705"/>
            <a:ext cx="22311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6"/>
              </a:lnSpc>
            </a:pPr>
            <a:r>
              <a:rPr lang="en-US" sz="2371" b="true">
                <a:solidFill>
                  <a:srgbClr val="F46E00"/>
                </a:solidFill>
                <a:latin typeface="Asap Bold"/>
                <a:ea typeface="Asap Bold"/>
                <a:cs typeface="Asap Bold"/>
                <a:sym typeface="Asap Bold"/>
              </a:rPr>
              <a:t>POS &amp; thống kê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520672" y="6682649"/>
            <a:ext cx="2048256" cy="172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Bán hàng tại quây,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xem/ln hóa đơn và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theo đôi doanh thu,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đơn hàng, sản phẩm</a:t>
            </a:r>
          </a:p>
          <a:p>
            <a:pPr algn="ctr">
              <a:lnSpc>
                <a:spcPts val="2722"/>
              </a:lnSpc>
            </a:pPr>
            <a:r>
              <a:rPr lang="en-US" sz="1815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bán chạy.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78608" y="5351526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79408" y="5516118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43232" y="5690997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80208" y="5361813"/>
            <a:ext cx="31089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1"/>
              </a:lnSpc>
            </a:pPr>
            <a:r>
              <a:rPr lang="en-US" sz="2076" b="true">
                <a:solidFill>
                  <a:srgbClr val="FFFFFF"/>
                </a:solidFill>
                <a:latin typeface="Asap Bold"/>
                <a:ea typeface="Asap Bold"/>
                <a:cs typeface="Asap Bold"/>
                <a:sym typeface="Asap Bold"/>
              </a:rPr>
              <a:t>05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806487" y="2022345"/>
          <a:ext cx="17638323" cy="8079847"/>
        </p:xfrm>
        <a:graphic>
          <a:graphicData uri="http://schemas.openxmlformats.org/presentationml/2006/ole">
            <p:oleObj imgW="21158200" imgH="11607800" r:id="rId1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4189582" y="758570"/>
            <a:ext cx="990883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KHỞI TẠO KẾ HOẠCH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611877" y="0"/>
            <a:ext cx="7861669" cy="10394165"/>
          </a:xfrm>
          <a:custGeom>
            <a:avLst/>
            <a:gdLst/>
            <a:ahLst/>
            <a:cxnLst/>
            <a:rect r="r" b="b" t="t" l="l"/>
            <a:pathLst>
              <a:path h="10394165" w="7861669">
                <a:moveTo>
                  <a:pt x="0" y="0"/>
                </a:moveTo>
                <a:lnTo>
                  <a:pt x="7861669" y="0"/>
                </a:lnTo>
                <a:lnTo>
                  <a:pt x="7861669" y="10394165"/>
                </a:lnTo>
                <a:lnTo>
                  <a:pt x="0" y="103941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16862" y="4851400"/>
            <a:ext cx="5369570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SƠ ĐỒ USECASE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460957" cy="11315700"/>
            <a:chOff x="0" y="0"/>
            <a:chExt cx="24614610" cy="15087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4782052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564105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4346157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912821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782052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64105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4346157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128210" y="4748106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782052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564105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4346157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128210" y="960120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true" flipV="false" rot="-4690323">
            <a:off x="-5679993" y="4834833"/>
            <a:ext cx="12933127" cy="8846933"/>
          </a:xfrm>
          <a:custGeom>
            <a:avLst/>
            <a:gdLst/>
            <a:ahLst/>
            <a:cxnLst/>
            <a:rect r="r" b="b" t="t" l="l"/>
            <a:pathLst>
              <a:path h="8846933" w="12933127">
                <a:moveTo>
                  <a:pt x="12933127" y="0"/>
                </a:moveTo>
                <a:lnTo>
                  <a:pt x="0" y="0"/>
                </a:lnTo>
                <a:lnTo>
                  <a:pt x="0" y="8846934"/>
                </a:lnTo>
                <a:lnTo>
                  <a:pt x="12933127" y="8846934"/>
                </a:lnTo>
                <a:lnTo>
                  <a:pt x="12933127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2895013" y="-87753"/>
            <a:ext cx="5565944" cy="4114800"/>
          </a:xfrm>
          <a:custGeom>
            <a:avLst/>
            <a:gdLst/>
            <a:ahLst/>
            <a:cxnLst/>
            <a:rect r="r" b="b" t="t" l="l"/>
            <a:pathLst>
              <a:path h="4114800" w="5565944">
                <a:moveTo>
                  <a:pt x="5565944" y="0"/>
                </a:moveTo>
                <a:lnTo>
                  <a:pt x="0" y="0"/>
                </a:lnTo>
                <a:lnTo>
                  <a:pt x="0" y="4114800"/>
                </a:lnTo>
                <a:lnTo>
                  <a:pt x="5565944" y="4114800"/>
                </a:lnTo>
                <a:lnTo>
                  <a:pt x="556594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5677872">
            <a:off x="11254421" y="9043070"/>
            <a:ext cx="476860" cy="880111"/>
          </a:xfrm>
          <a:custGeom>
            <a:avLst/>
            <a:gdLst/>
            <a:ahLst/>
            <a:cxnLst/>
            <a:rect r="r" b="b" t="t" l="l"/>
            <a:pathLst>
              <a:path h="880111" w="476860">
                <a:moveTo>
                  <a:pt x="0" y="0"/>
                </a:moveTo>
                <a:lnTo>
                  <a:pt x="476860" y="0"/>
                </a:lnTo>
                <a:lnTo>
                  <a:pt x="476860" y="880111"/>
                </a:lnTo>
                <a:lnTo>
                  <a:pt x="0" y="880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244310" y="2404918"/>
            <a:ext cx="558202" cy="474979"/>
          </a:xfrm>
          <a:custGeom>
            <a:avLst/>
            <a:gdLst/>
            <a:ahLst/>
            <a:cxnLst/>
            <a:rect r="r" b="b" t="t" l="l"/>
            <a:pathLst>
              <a:path h="474979" w="558202">
                <a:moveTo>
                  <a:pt x="0" y="0"/>
                </a:moveTo>
                <a:lnTo>
                  <a:pt x="558202" y="0"/>
                </a:lnTo>
                <a:lnTo>
                  <a:pt x="558202" y="474980"/>
                </a:lnTo>
                <a:lnTo>
                  <a:pt x="0" y="474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04041" y="118856"/>
            <a:ext cx="2225643" cy="756719"/>
          </a:xfrm>
          <a:custGeom>
            <a:avLst/>
            <a:gdLst/>
            <a:ahLst/>
            <a:cxnLst/>
            <a:rect r="r" b="b" t="t" l="l"/>
            <a:pathLst>
              <a:path h="756719" w="2225643">
                <a:moveTo>
                  <a:pt x="0" y="0"/>
                </a:moveTo>
                <a:lnTo>
                  <a:pt x="2225643" y="0"/>
                </a:lnTo>
                <a:lnTo>
                  <a:pt x="2225643" y="756719"/>
                </a:lnTo>
                <a:lnTo>
                  <a:pt x="0" y="756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385118" y="1158775"/>
            <a:ext cx="13902882" cy="8324350"/>
          </a:xfrm>
          <a:custGeom>
            <a:avLst/>
            <a:gdLst/>
            <a:ahLst/>
            <a:cxnLst/>
            <a:rect r="r" b="b" t="t" l="l"/>
            <a:pathLst>
              <a:path h="8324350" w="13902882">
                <a:moveTo>
                  <a:pt x="0" y="0"/>
                </a:moveTo>
                <a:lnTo>
                  <a:pt x="13902882" y="0"/>
                </a:lnTo>
                <a:lnTo>
                  <a:pt x="13902882" y="8324350"/>
                </a:lnTo>
                <a:lnTo>
                  <a:pt x="0" y="83243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38937" y="5229225"/>
            <a:ext cx="3798286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00000"/>
                </a:solidFill>
                <a:latin typeface="Bogart Bold"/>
                <a:ea typeface="Bogart Bold"/>
                <a:cs typeface="Bogart Bold"/>
                <a:sym typeface="Bogart Bold"/>
              </a:rPr>
              <a:t>SƠ ĐỒ ERD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020300" cy="6429375"/>
          </a:xfrm>
          <a:custGeom>
            <a:avLst/>
            <a:gdLst/>
            <a:ahLst/>
            <a:cxnLst/>
            <a:rect r="r" b="b" t="t" l="l"/>
            <a:pathLst>
              <a:path h="6429375" w="10020300">
                <a:moveTo>
                  <a:pt x="0" y="0"/>
                </a:moveTo>
                <a:lnTo>
                  <a:pt x="10020300" y="0"/>
                </a:lnTo>
                <a:lnTo>
                  <a:pt x="1002030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25550" y="8143875"/>
            <a:ext cx="4362450" cy="2143125"/>
          </a:xfrm>
          <a:custGeom>
            <a:avLst/>
            <a:gdLst/>
            <a:ahLst/>
            <a:cxnLst/>
            <a:rect r="r" b="b" t="t" l="l"/>
            <a:pathLst>
              <a:path h="2143125" w="4362450">
                <a:moveTo>
                  <a:pt x="0" y="0"/>
                </a:moveTo>
                <a:lnTo>
                  <a:pt x="4362450" y="0"/>
                </a:lnTo>
                <a:lnTo>
                  <a:pt x="4362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7744" y="719402"/>
            <a:ext cx="2176272" cy="25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9"/>
              </a:lnSpc>
            </a:pPr>
            <a:r>
              <a:rPr lang="en-US" sz="1869" b="true">
                <a:solidFill>
                  <a:srgbClr val="FF914D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FPT POLYTECHNIC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9550" y="6638925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973550" y="6210300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048625" y="9429750"/>
            <a:ext cx="1095375" cy="647700"/>
          </a:xfrm>
          <a:custGeom>
            <a:avLst/>
            <a:gdLst/>
            <a:ahLst/>
            <a:cxnLst/>
            <a:rect r="r" b="b" t="t" l="l"/>
            <a:pathLst>
              <a:path h="647700" w="1095375">
                <a:moveTo>
                  <a:pt x="0" y="0"/>
                </a:moveTo>
                <a:lnTo>
                  <a:pt x="1095375" y="0"/>
                </a:lnTo>
                <a:lnTo>
                  <a:pt x="10953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8224" y="3443488"/>
            <a:ext cx="10131552" cy="345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053"/>
              </a:lnSpc>
              <a:spcBef>
                <a:spcPct val="0"/>
              </a:spcBef>
            </a:pPr>
            <a:r>
              <a:rPr lang="en-US" sz="9008" spc="900" strike="noStrike" u="none">
                <a:solidFill>
                  <a:srgbClr val="001F3D"/>
                </a:solidFill>
                <a:latin typeface="Paytone One"/>
                <a:ea typeface="Paytone One"/>
                <a:cs typeface="Paytone One"/>
                <a:sym typeface="Paytone One"/>
              </a:rPr>
              <a:t>THANK YOU</a:t>
            </a:r>
          </a:p>
          <a:p>
            <a:pPr algn="ctr" marL="0" indent="0" lvl="0">
              <a:lnSpc>
                <a:spcPts val="14053"/>
              </a:lnSpc>
              <a:spcBef>
                <a:spcPct val="0"/>
              </a:spcBef>
            </a:pPr>
            <a:r>
              <a:rPr lang="en-US" sz="9008" spc="900" strike="noStrike" u="none">
                <a:solidFill>
                  <a:srgbClr val="001F3D"/>
                </a:solidFill>
                <a:latin typeface="Paytone One"/>
                <a:ea typeface="Paytone One"/>
                <a:cs typeface="Paytone One"/>
                <a:sym typeface="Paytone One"/>
              </a:rPr>
              <a:t>FOR LISTENING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3504" y="236479"/>
            <a:ext cx="420624" cy="25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4"/>
              </a:lnSpc>
            </a:pPr>
            <a:r>
              <a:rPr lang="en-US" b="true" sz="1824" i="true">
                <a:solidFill>
                  <a:srgbClr val="00C4CC"/>
                </a:solidFill>
                <a:latin typeface="Poppins Ultra-Bold Italics"/>
                <a:ea typeface="Poppins Ultra-Bold Italics"/>
                <a:cs typeface="Poppins Ultra-Bold Italics"/>
                <a:sym typeface="Poppins Ultra-Bold Italics"/>
              </a:rPr>
              <a:t>FPT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176" y="305892"/>
            <a:ext cx="603504" cy="12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9"/>
              </a:lnSpc>
            </a:pPr>
            <a:r>
              <a:rPr lang="en-US" sz="919" b="true">
                <a:solidFill>
                  <a:srgbClr val="001F3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DAHVdgbajH4</dc:identifier>
  <dcterms:modified xsi:type="dcterms:W3CDTF">2011-08-01T06:04:30Z</dcterms:modified>
  <cp:revision>1</cp:revision>
  <dc:title>DATN</dc:title>
</cp:coreProperties>
</file>